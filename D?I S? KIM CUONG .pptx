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notesSlides/notesSlide1.xml" ContentType="application/vnd.openxmlformats-officedocument.presentationml.notesSlide+xml"/>
  <Override PartName="/ppt/media/image5.jpg" ContentType="image/jpeg"/>
  <Override PartName="/ppt/media/image6.jpg" ContentType="image/jpeg"/>
  <Override PartName="/ppt/media/image7.jpg" ContentType="image/jpeg"/>
  <Override PartName="/ppt/media/image8.jpg" ContentType="image/jpeg"/>
  <Override PartName="/ppt/media/image9.jpg" ContentType="image/jpeg"/>
  <Override PartName="/ppt/media/image10.jpg" ContentType="image/jpeg"/>
  <Override PartName="/ppt/media/image11.jpg" ContentType="image/jpeg"/>
  <Override PartName="/ppt/media/image12.jpg" ContentType="image/jpeg"/>
  <Override PartName="/ppt/notesSlides/notesSlide2.xml" ContentType="application/vnd.openxmlformats-officedocument.presentationml.notesSlide+xml"/>
  <Override PartName="/ppt/media/image13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4.jpg" ContentType="image/jpeg"/>
  <Override PartName="/ppt/media/image15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8"/>
  </p:notesMasterIdLst>
  <p:sldIdLst>
    <p:sldId id="406" r:id="rId2"/>
    <p:sldId id="430" r:id="rId3"/>
    <p:sldId id="407" r:id="rId4"/>
    <p:sldId id="408" r:id="rId5"/>
    <p:sldId id="433" r:id="rId6"/>
    <p:sldId id="366" r:id="rId7"/>
    <p:sldId id="427" r:id="rId8"/>
    <p:sldId id="440" r:id="rId9"/>
    <p:sldId id="387" r:id="rId10"/>
    <p:sldId id="419" r:id="rId11"/>
    <p:sldId id="395" r:id="rId12"/>
    <p:sldId id="435" r:id="rId13"/>
    <p:sldId id="405" r:id="rId14"/>
    <p:sldId id="434" r:id="rId15"/>
    <p:sldId id="441" r:id="rId16"/>
    <p:sldId id="428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713"/>
    <a:srgbClr val="E6B962"/>
    <a:srgbClr val="E6C496"/>
    <a:srgbClr val="D4E6B8"/>
    <a:srgbClr val="DEE6C3"/>
    <a:srgbClr val="E6DFE4"/>
    <a:srgbClr val="E6DCCA"/>
    <a:srgbClr val="FFF7FA"/>
    <a:srgbClr val="E6FFFF"/>
    <a:srgbClr val="97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86222"/>
  </p:normalViewPr>
  <p:slideViewPr>
    <p:cSldViewPr>
      <p:cViewPr>
        <p:scale>
          <a:sx n="58" d="100"/>
          <a:sy n="58" d="100"/>
        </p:scale>
        <p:origin x="2120" y="48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7C59D-6D47-DC46-99A3-89D727F04A5B}" type="datetimeFigureOut">
              <a:rPr lang="vi-VN" smtClean="0"/>
              <a:t>05/04/2026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A51FA-3220-724A-8BC9-8E87B8350B4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136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AA51FA-3220-724A-8BC9-8E87B8350B4C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9264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AA51FA-3220-724A-8BC9-8E87B8350B4C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74411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AA51FA-3220-724A-8BC9-8E87B8350B4C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9961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AA51FA-3220-724A-8BC9-8E87B8350B4C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7788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AA51FA-3220-724A-8BC9-8E87B8350B4C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170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488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18117" y="2034136"/>
            <a:ext cx="4902200" cy="1527810"/>
          </a:xfrm>
          <a:custGeom>
            <a:avLst/>
            <a:gdLst/>
            <a:ahLst/>
            <a:cxnLst/>
            <a:rect l="l" t="t" r="r" b="b"/>
            <a:pathLst>
              <a:path w="4902200" h="1527810">
                <a:moveTo>
                  <a:pt x="4227420" y="0"/>
                </a:moveTo>
                <a:lnTo>
                  <a:pt x="674261" y="0"/>
                </a:lnTo>
                <a:lnTo>
                  <a:pt x="625702" y="1982"/>
                </a:lnTo>
                <a:lnTo>
                  <a:pt x="577676" y="7875"/>
                </a:lnTo>
                <a:lnTo>
                  <a:pt x="530352" y="17599"/>
                </a:lnTo>
                <a:lnTo>
                  <a:pt x="483902" y="31074"/>
                </a:lnTo>
                <a:lnTo>
                  <a:pt x="438495" y="48221"/>
                </a:lnTo>
                <a:lnTo>
                  <a:pt x="394302" y="68960"/>
                </a:lnTo>
                <a:lnTo>
                  <a:pt x="351492" y="93211"/>
                </a:lnTo>
                <a:lnTo>
                  <a:pt x="310235" y="120893"/>
                </a:lnTo>
                <a:lnTo>
                  <a:pt x="270702" y="151929"/>
                </a:lnTo>
                <a:lnTo>
                  <a:pt x="233063" y="186236"/>
                </a:lnTo>
                <a:lnTo>
                  <a:pt x="197488" y="223737"/>
                </a:lnTo>
                <a:lnTo>
                  <a:pt x="167039" y="260590"/>
                </a:lnTo>
                <a:lnTo>
                  <a:pt x="138953" y="299421"/>
                </a:lnTo>
                <a:lnTo>
                  <a:pt x="113284" y="340082"/>
                </a:lnTo>
                <a:lnTo>
                  <a:pt x="90087" y="382424"/>
                </a:lnTo>
                <a:lnTo>
                  <a:pt x="69416" y="426300"/>
                </a:lnTo>
                <a:lnTo>
                  <a:pt x="51325" y="471559"/>
                </a:lnTo>
                <a:lnTo>
                  <a:pt x="35868" y="518055"/>
                </a:lnTo>
                <a:lnTo>
                  <a:pt x="23100" y="565639"/>
                </a:lnTo>
                <a:lnTo>
                  <a:pt x="13075" y="614161"/>
                </a:lnTo>
                <a:lnTo>
                  <a:pt x="5847" y="663474"/>
                </a:lnTo>
                <a:lnTo>
                  <a:pt x="1470" y="713430"/>
                </a:lnTo>
                <a:lnTo>
                  <a:pt x="0" y="763879"/>
                </a:lnTo>
                <a:lnTo>
                  <a:pt x="1470" y="814330"/>
                </a:lnTo>
                <a:lnTo>
                  <a:pt x="5847" y="864288"/>
                </a:lnTo>
                <a:lnTo>
                  <a:pt x="13075" y="913602"/>
                </a:lnTo>
                <a:lnTo>
                  <a:pt x="23100" y="962126"/>
                </a:lnTo>
                <a:lnTo>
                  <a:pt x="35868" y="1009710"/>
                </a:lnTo>
                <a:lnTo>
                  <a:pt x="51325" y="1056207"/>
                </a:lnTo>
                <a:lnTo>
                  <a:pt x="69416" y="1101467"/>
                </a:lnTo>
                <a:lnTo>
                  <a:pt x="90087" y="1145343"/>
                </a:lnTo>
                <a:lnTo>
                  <a:pt x="113284" y="1187685"/>
                </a:lnTo>
                <a:lnTo>
                  <a:pt x="138953" y="1228346"/>
                </a:lnTo>
                <a:lnTo>
                  <a:pt x="167039" y="1267177"/>
                </a:lnTo>
                <a:lnTo>
                  <a:pt x="197488" y="1304030"/>
                </a:lnTo>
                <a:lnTo>
                  <a:pt x="233063" y="1341531"/>
                </a:lnTo>
                <a:lnTo>
                  <a:pt x="270702" y="1375838"/>
                </a:lnTo>
                <a:lnTo>
                  <a:pt x="310235" y="1406874"/>
                </a:lnTo>
                <a:lnTo>
                  <a:pt x="351492" y="1434556"/>
                </a:lnTo>
                <a:lnTo>
                  <a:pt x="394302" y="1458807"/>
                </a:lnTo>
                <a:lnTo>
                  <a:pt x="438495" y="1479546"/>
                </a:lnTo>
                <a:lnTo>
                  <a:pt x="483902" y="1496693"/>
                </a:lnTo>
                <a:lnTo>
                  <a:pt x="530352" y="1510168"/>
                </a:lnTo>
                <a:lnTo>
                  <a:pt x="577676" y="1519893"/>
                </a:lnTo>
                <a:lnTo>
                  <a:pt x="625702" y="1525786"/>
                </a:lnTo>
                <a:lnTo>
                  <a:pt x="674261" y="1527768"/>
                </a:lnTo>
                <a:lnTo>
                  <a:pt x="4227420" y="1527768"/>
                </a:lnTo>
                <a:lnTo>
                  <a:pt x="4275982" y="1525786"/>
                </a:lnTo>
                <a:lnTo>
                  <a:pt x="4324010" y="1519893"/>
                </a:lnTo>
                <a:lnTo>
                  <a:pt x="4371334" y="1510168"/>
                </a:lnTo>
                <a:lnTo>
                  <a:pt x="4417785" y="1496693"/>
                </a:lnTo>
                <a:lnTo>
                  <a:pt x="4463192" y="1479546"/>
                </a:lnTo>
                <a:lnTo>
                  <a:pt x="4507386" y="1458807"/>
                </a:lnTo>
                <a:lnTo>
                  <a:pt x="4550196" y="1434556"/>
                </a:lnTo>
                <a:lnTo>
                  <a:pt x="4591452" y="1406874"/>
                </a:lnTo>
                <a:lnTo>
                  <a:pt x="4630984" y="1375838"/>
                </a:lnTo>
                <a:lnTo>
                  <a:pt x="4668621" y="1341531"/>
                </a:lnTo>
                <a:lnTo>
                  <a:pt x="4704195" y="1304030"/>
                </a:lnTo>
                <a:lnTo>
                  <a:pt x="4734644" y="1267177"/>
                </a:lnTo>
                <a:lnTo>
                  <a:pt x="4762730" y="1228346"/>
                </a:lnTo>
                <a:lnTo>
                  <a:pt x="4788399" y="1187685"/>
                </a:lnTo>
                <a:lnTo>
                  <a:pt x="4811595" y="1145343"/>
                </a:lnTo>
                <a:lnTo>
                  <a:pt x="4832267" y="1101467"/>
                </a:lnTo>
                <a:lnTo>
                  <a:pt x="4850357" y="1056207"/>
                </a:lnTo>
                <a:lnTo>
                  <a:pt x="4865814" y="1009710"/>
                </a:lnTo>
                <a:lnTo>
                  <a:pt x="4878582" y="962126"/>
                </a:lnTo>
                <a:lnTo>
                  <a:pt x="4888607" y="913602"/>
                </a:lnTo>
                <a:lnTo>
                  <a:pt x="4895835" y="864288"/>
                </a:lnTo>
                <a:lnTo>
                  <a:pt x="4900212" y="814330"/>
                </a:lnTo>
                <a:lnTo>
                  <a:pt x="4901682" y="763879"/>
                </a:lnTo>
                <a:lnTo>
                  <a:pt x="4900212" y="713430"/>
                </a:lnTo>
                <a:lnTo>
                  <a:pt x="4895835" y="663474"/>
                </a:lnTo>
                <a:lnTo>
                  <a:pt x="4888607" y="614161"/>
                </a:lnTo>
                <a:lnTo>
                  <a:pt x="4878582" y="565639"/>
                </a:lnTo>
                <a:lnTo>
                  <a:pt x="4865814" y="518055"/>
                </a:lnTo>
                <a:lnTo>
                  <a:pt x="4850357" y="471559"/>
                </a:lnTo>
                <a:lnTo>
                  <a:pt x="4832267" y="426300"/>
                </a:lnTo>
                <a:lnTo>
                  <a:pt x="4811595" y="382424"/>
                </a:lnTo>
                <a:lnTo>
                  <a:pt x="4788399" y="340082"/>
                </a:lnTo>
                <a:lnTo>
                  <a:pt x="4762730" y="299421"/>
                </a:lnTo>
                <a:lnTo>
                  <a:pt x="4734644" y="260590"/>
                </a:lnTo>
                <a:lnTo>
                  <a:pt x="4704195" y="223737"/>
                </a:lnTo>
                <a:lnTo>
                  <a:pt x="4668621" y="186236"/>
                </a:lnTo>
                <a:lnTo>
                  <a:pt x="4630984" y="151929"/>
                </a:lnTo>
                <a:lnTo>
                  <a:pt x="4591452" y="120893"/>
                </a:lnTo>
                <a:lnTo>
                  <a:pt x="4550196" y="93211"/>
                </a:lnTo>
                <a:lnTo>
                  <a:pt x="4507386" y="68960"/>
                </a:lnTo>
                <a:lnTo>
                  <a:pt x="4463192" y="48221"/>
                </a:lnTo>
                <a:lnTo>
                  <a:pt x="4417785" y="31074"/>
                </a:lnTo>
                <a:lnTo>
                  <a:pt x="4371334" y="17599"/>
                </a:lnTo>
                <a:lnTo>
                  <a:pt x="4324010" y="7875"/>
                </a:lnTo>
                <a:lnTo>
                  <a:pt x="4275982" y="1982"/>
                </a:lnTo>
                <a:lnTo>
                  <a:pt x="4227420" y="0"/>
                </a:lnTo>
                <a:close/>
              </a:path>
            </a:pathLst>
          </a:custGeom>
          <a:solidFill>
            <a:srgbClr val="7E5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2406211"/>
            <a:ext cx="889515" cy="7560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78731" y="2387017"/>
            <a:ext cx="296481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8288000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8018" y="580125"/>
            <a:ext cx="16531963" cy="1304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06687" y="2284105"/>
            <a:ext cx="8423910" cy="684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3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4300"/>
            <a:ext cx="18288000" cy="10401300"/>
          </a:xfrm>
          <a:prstGeom prst="rect">
            <a:avLst/>
          </a:prstGeom>
        </p:spPr>
      </p:pic>
      <p:sp>
        <p:nvSpPr>
          <p:cNvPr id="4" name="object 3"/>
          <p:cNvSpPr txBox="1">
            <a:spLocks/>
          </p:cNvSpPr>
          <p:nvPr/>
        </p:nvSpPr>
        <p:spPr>
          <a:xfrm>
            <a:off x="3581400" y="2933700"/>
            <a:ext cx="12115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HÀNH TRÌNH KIẾN TẠO </a:t>
            </a:r>
            <a:r>
              <a:rPr lang="en-US" sz="3200" b="1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DI SẢN NGUỒN </a:t>
            </a:r>
            <a:r>
              <a:rPr lang="en-US" sz="32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NƯỚC HYDROGEN</a:t>
            </a:r>
            <a:endParaRPr lang="en-US" sz="3200" b="1" dirty="0">
              <a:solidFill>
                <a:srgbClr val="0070C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object 30"/>
          <p:cNvSpPr txBox="1"/>
          <p:nvPr/>
        </p:nvSpPr>
        <p:spPr>
          <a:xfrm>
            <a:off x="3505200" y="3695700"/>
            <a:ext cx="12954000" cy="55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225" marR="5080" indent="-517525">
              <a:lnSpc>
                <a:spcPct val="116700"/>
              </a:lnSpc>
              <a:spcBef>
                <a:spcPts val="100"/>
              </a:spcBef>
            </a:pPr>
            <a:r>
              <a:rPr lang="en-US" sz="3200" b="1" spc="3750" dirty="0" smtClean="0">
                <a:solidFill>
                  <a:srgbClr val="0070C0"/>
                </a:solidFill>
                <a:effectLst/>
                <a:latin typeface="Apple Color Emoji" charset="0"/>
                <a:ea typeface="Apple Color Emoji" charset="0"/>
                <a:cs typeface="Apple Color Emoji" charset="0"/>
              </a:rPr>
              <a:t>🌿</a:t>
            </a:r>
            <a:r>
              <a:rPr lang="en-US" sz="3200" b="1" spc="15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“NƯỚC TỐT </a:t>
            </a:r>
            <a:r>
              <a:rPr lang="en-US" sz="3200" b="1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 THÂN AN – THỜI GIAN  TOẢ SÁNG </a:t>
            </a:r>
            <a:r>
              <a:rPr lang="en-US" sz="3200" b="1" spc="15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sz="32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29"/>
          <p:cNvSpPr txBox="1"/>
          <p:nvPr/>
        </p:nvSpPr>
        <p:spPr>
          <a:xfrm>
            <a:off x="13106400" y="4819923"/>
            <a:ext cx="647824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vi-VN" sz="4000" b="1" spc="-20" smtClean="0">
                <a:solidFill>
                  <a:srgbClr val="0070C0"/>
                </a:solidFill>
                <a:latin typeface="Times New Roman"/>
                <a:cs typeface="Times New Roman"/>
              </a:rPr>
              <a:t>SỨ </a:t>
            </a:r>
            <a:r>
              <a:rPr lang="vi-VN" sz="4000" b="1" spc="-20" dirty="0" smtClean="0">
                <a:solidFill>
                  <a:srgbClr val="0070C0"/>
                </a:solidFill>
                <a:latin typeface="Times New Roman"/>
                <a:cs typeface="Times New Roman"/>
              </a:rPr>
              <a:t>MỆNH</a:t>
            </a:r>
            <a:endParaRPr sz="40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37"/>
          <p:cNvSpPr txBox="1"/>
          <p:nvPr/>
        </p:nvSpPr>
        <p:spPr>
          <a:xfrm>
            <a:off x="0" y="7962900"/>
            <a:ext cx="1828800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00"/>
              </a:spcBef>
            </a:pPr>
            <a:r>
              <a:rPr sz="4400" b="1" i="1" dirty="0">
                <a:solidFill>
                  <a:srgbClr val="0070C0"/>
                </a:solidFill>
                <a:latin typeface="Times New Roman"/>
                <a:cs typeface="Times New Roman"/>
              </a:rPr>
              <a:t>“</a:t>
            </a:r>
            <a:r>
              <a:rPr sz="4400" i="1" dirty="0">
                <a:solidFill>
                  <a:srgbClr val="0070C0"/>
                </a:solidFill>
                <a:latin typeface="Times New Roman"/>
                <a:cs typeface="Times New Roman"/>
              </a:rPr>
              <a:t>Cuộc</a:t>
            </a:r>
            <a:r>
              <a:rPr sz="4400" i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0070C0"/>
                </a:solidFill>
                <a:latin typeface="Times New Roman"/>
                <a:cs typeface="Times New Roman"/>
              </a:rPr>
              <a:t>đời</a:t>
            </a:r>
            <a:r>
              <a:rPr sz="4400" i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0070C0"/>
                </a:solidFill>
                <a:latin typeface="Times New Roman"/>
                <a:cs typeface="Times New Roman"/>
              </a:rPr>
              <a:t>là</a:t>
            </a:r>
            <a:r>
              <a:rPr sz="4400" i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0070C0"/>
                </a:solidFill>
                <a:latin typeface="Times New Roman"/>
                <a:cs typeface="Times New Roman"/>
              </a:rPr>
              <a:t>một</a:t>
            </a:r>
            <a:r>
              <a:rPr sz="4400" i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0070C0"/>
                </a:solidFill>
                <a:latin typeface="Times New Roman"/>
                <a:cs typeface="Times New Roman"/>
              </a:rPr>
              <a:t>hành</a:t>
            </a:r>
            <a:r>
              <a:rPr sz="4400" i="1" spc="-2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spc="-10" dirty="0" smtClean="0">
                <a:solidFill>
                  <a:srgbClr val="0070C0"/>
                </a:solidFill>
                <a:latin typeface="Times New Roman"/>
                <a:cs typeface="Times New Roman"/>
              </a:rPr>
              <a:t>trình</a:t>
            </a:r>
            <a:r>
              <a:rPr lang="vi-VN" sz="4400" i="1" spc="-1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44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</a:t>
            </a:r>
            <a:r>
              <a:rPr sz="4400" i="1" dirty="0" err="1" smtClean="0">
                <a:solidFill>
                  <a:srgbClr val="0070C0"/>
                </a:solidFill>
                <a:latin typeface="Times New Roman"/>
                <a:cs typeface="Times New Roman"/>
              </a:rPr>
              <a:t>hãy</a:t>
            </a:r>
            <a:r>
              <a:rPr sz="4400" i="1" spc="-2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 err="1">
                <a:solidFill>
                  <a:srgbClr val="0070C0"/>
                </a:solidFill>
                <a:latin typeface="Times New Roman"/>
                <a:cs typeface="Times New Roman"/>
              </a:rPr>
              <a:t>làm</a:t>
            </a:r>
            <a:r>
              <a:rPr sz="4400" i="1" spc="-2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vi-VN" sz="4400" i="1" spc="-25" dirty="0" smtClean="0">
                <a:solidFill>
                  <a:srgbClr val="0070C0"/>
                </a:solidFill>
                <a:latin typeface="Times New Roman"/>
                <a:cs typeface="Times New Roman"/>
              </a:rPr>
              <a:t>cuộc đời</a:t>
            </a:r>
            <a:r>
              <a:rPr sz="4400" i="1" spc="-25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0070C0"/>
                </a:solidFill>
                <a:latin typeface="Times New Roman"/>
                <a:cs typeface="Times New Roman"/>
              </a:rPr>
              <a:t>trở</a:t>
            </a:r>
            <a:r>
              <a:rPr sz="4400" i="1" spc="-2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nên</a:t>
            </a:r>
            <a:r>
              <a:rPr sz="4400" i="1" spc="-2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0070C0"/>
                </a:solidFill>
                <a:latin typeface="Times New Roman"/>
                <a:cs typeface="Times New Roman"/>
              </a:rPr>
              <a:t>ý</a:t>
            </a:r>
            <a:r>
              <a:rPr sz="4400" i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0070C0"/>
                </a:solidFill>
                <a:latin typeface="Times New Roman"/>
                <a:cs typeface="Times New Roman"/>
              </a:rPr>
              <a:t>nghĩa</a:t>
            </a:r>
            <a:r>
              <a:rPr sz="4400" i="1" spc="-1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i="1" spc="-20" dirty="0">
                <a:solidFill>
                  <a:srgbClr val="0070C0"/>
                </a:solidFill>
                <a:latin typeface="Times New Roman"/>
                <a:cs typeface="Times New Roman"/>
              </a:rPr>
              <a:t>hơn”</a:t>
            </a:r>
            <a:endParaRPr sz="440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4400" b="1" i="1" dirty="0">
                <a:solidFill>
                  <a:srgbClr val="0070C0"/>
                </a:solidFill>
                <a:latin typeface="Times New Roman"/>
                <a:cs typeface="Times New Roman"/>
              </a:rPr>
              <a:t>(Founder</a:t>
            </a:r>
            <a:r>
              <a:rPr sz="4400" b="1" i="1" spc="-6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b="1" i="1" dirty="0">
                <a:solidFill>
                  <a:srgbClr val="0070C0"/>
                </a:solidFill>
                <a:latin typeface="Times New Roman"/>
                <a:cs typeface="Times New Roman"/>
              </a:rPr>
              <a:t>&amp;</a:t>
            </a:r>
            <a:r>
              <a:rPr sz="4400" b="1" i="1" spc="-6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b="1" i="1" dirty="0">
                <a:solidFill>
                  <a:srgbClr val="0070C0"/>
                </a:solidFill>
                <a:latin typeface="Times New Roman"/>
                <a:cs typeface="Times New Roman"/>
              </a:rPr>
              <a:t>Chairman</a:t>
            </a:r>
            <a:r>
              <a:rPr sz="4400" b="1" i="1" spc="-6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b="1" i="1" dirty="0">
                <a:solidFill>
                  <a:srgbClr val="0070C0"/>
                </a:solidFill>
                <a:latin typeface="Times New Roman"/>
                <a:cs typeface="Times New Roman"/>
              </a:rPr>
              <a:t>Nguyễn</a:t>
            </a:r>
            <a:r>
              <a:rPr sz="4400" b="1" i="1" spc="-6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b="1" i="1" dirty="0">
                <a:solidFill>
                  <a:srgbClr val="0070C0"/>
                </a:solidFill>
                <a:latin typeface="Times New Roman"/>
                <a:cs typeface="Times New Roman"/>
              </a:rPr>
              <a:t>Đức</a:t>
            </a:r>
            <a:r>
              <a:rPr sz="4400" b="1" i="1" spc="-6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4400" b="1" i="1" spc="-10" dirty="0">
                <a:solidFill>
                  <a:srgbClr val="0070C0"/>
                </a:solidFill>
                <a:latin typeface="Times New Roman"/>
                <a:cs typeface="Times New Roman"/>
              </a:rPr>
              <a:t>Quang)</a:t>
            </a:r>
            <a:endParaRPr sz="44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29"/>
          <p:cNvSpPr txBox="1"/>
          <p:nvPr/>
        </p:nvSpPr>
        <p:spPr>
          <a:xfrm>
            <a:off x="2665758" y="4819923"/>
            <a:ext cx="647824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vi-VN" sz="4000" b="1" spc="-20" dirty="0" smtClean="0">
                <a:solidFill>
                  <a:srgbClr val="0070C0"/>
                </a:solidFill>
                <a:latin typeface="Times New Roman"/>
                <a:cs typeface="Times New Roman"/>
              </a:rPr>
              <a:t>TẦM NHÌN</a:t>
            </a:r>
            <a:endParaRPr sz="40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31"/>
          <p:cNvSpPr txBox="1"/>
          <p:nvPr/>
        </p:nvSpPr>
        <p:spPr>
          <a:xfrm>
            <a:off x="762000" y="5600700"/>
            <a:ext cx="7772400" cy="1309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l">
              <a:lnSpc>
                <a:spcPct val="116700"/>
              </a:lnSpc>
              <a:spcBef>
                <a:spcPts val="100"/>
              </a:spcBef>
            </a:pPr>
            <a:r>
              <a:rPr lang="vi-VN" sz="3600" dirty="0" smtClean="0">
                <a:solidFill>
                  <a:srgbClr val="0070C0"/>
                </a:solidFill>
                <a:latin typeface="+mj-lt"/>
                <a:cs typeface="Times New Roman"/>
              </a:rPr>
              <a:t>“Trở thành tập đoàn công nghệ nước Hydrogen tinh khiết hàng đầu thế giới”</a:t>
            </a:r>
            <a:endParaRPr sz="3600" dirty="0">
              <a:solidFill>
                <a:srgbClr val="0070C0"/>
              </a:solidFill>
              <a:latin typeface="+mj-lt"/>
              <a:cs typeface="Times New Roman"/>
            </a:endParaRPr>
          </a:p>
        </p:txBody>
      </p:sp>
      <p:sp>
        <p:nvSpPr>
          <p:cNvPr id="10" name="object 31"/>
          <p:cNvSpPr txBox="1"/>
          <p:nvPr/>
        </p:nvSpPr>
        <p:spPr>
          <a:xfrm>
            <a:off x="11734800" y="5676900"/>
            <a:ext cx="6934200" cy="1309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l">
              <a:lnSpc>
                <a:spcPct val="116700"/>
              </a:lnSpc>
              <a:spcBef>
                <a:spcPts val="100"/>
              </a:spcBef>
            </a:pPr>
            <a:r>
              <a:rPr lang="vi-VN" sz="3600" dirty="0" smtClean="0">
                <a:solidFill>
                  <a:srgbClr val="0070C0"/>
                </a:solidFill>
                <a:latin typeface="Times New Roman"/>
                <a:cs typeface="Times New Roman"/>
              </a:rPr>
              <a:t>“Mang nguồn nước Hydrogen </a:t>
            </a:r>
            <a:br>
              <a:rPr lang="vi-VN" sz="3600" dirty="0" smtClean="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vi-VN" sz="3600" dirty="0" smtClean="0">
                <a:solidFill>
                  <a:srgbClr val="0070C0"/>
                </a:solidFill>
                <a:latin typeface="Times New Roman"/>
                <a:cs typeface="Times New Roman"/>
              </a:rPr>
              <a:t>sạch đến mọi gia đình Việt"</a:t>
            </a:r>
            <a:endParaRPr sz="36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427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91200" y="3543300"/>
            <a:ext cx="13716000" cy="3682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5400" dirty="0" smtClean="0">
                <a:solidFill>
                  <a:srgbClr val="00206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1. Ô nhiễm không khí</a:t>
            </a:r>
            <a:br>
              <a:rPr lang="vi-VN" sz="5400" dirty="0" smtClean="0">
                <a:solidFill>
                  <a:srgbClr val="00206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5400" dirty="0" smtClean="0">
                <a:solidFill>
                  <a:srgbClr val="00206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2. Ô nhiễm thực phẩm</a:t>
            </a:r>
            <a:br>
              <a:rPr lang="vi-VN" sz="5400" dirty="0" smtClean="0">
                <a:solidFill>
                  <a:srgbClr val="00206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5300" dirty="0" smtClean="0">
                <a:solidFill>
                  <a:srgbClr val="00206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3. Ô </a:t>
            </a:r>
            <a:r>
              <a:rPr lang="vi-VN" sz="5200" dirty="0" smtClean="0">
                <a:solidFill>
                  <a:srgbClr val="00206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nhiễm nguồn nước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2857500"/>
            <a:ext cx="113538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 dirty="0" smtClean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THỰC TRẠNG Ô NHIỄM HIỆN NAY</a:t>
            </a:r>
            <a:endParaRPr lang="vi-VN" sz="3600" dirty="0"/>
          </a:p>
        </p:txBody>
      </p:sp>
      <p:sp>
        <p:nvSpPr>
          <p:cNvPr id="5" name="Rectangle 4"/>
          <p:cNvSpPr/>
          <p:nvPr/>
        </p:nvSpPr>
        <p:spPr>
          <a:xfrm>
            <a:off x="5791200" y="7525189"/>
            <a:ext cx="8077200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dirty="0" smtClean="0">
                <a:solidFill>
                  <a:srgbClr val="FF000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80% BỆNH ĐẾN TỪ NGUỒN NƯỚC</a:t>
            </a:r>
          </a:p>
        </p:txBody>
      </p:sp>
    </p:spTree>
    <p:extLst>
      <p:ext uri="{BB962C8B-B14F-4D97-AF65-F5344CB8AC3E}">
        <p14:creationId xmlns:p14="http://schemas.microsoft.com/office/powerpoint/2010/main" val="190830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7"/>
          <p:cNvSpPr txBox="1"/>
          <p:nvPr/>
        </p:nvSpPr>
        <p:spPr>
          <a:xfrm>
            <a:off x="-1066800" y="2224543"/>
            <a:ext cx="7162800" cy="937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00"/>
              </a:spcBef>
            </a:pPr>
            <a:r>
              <a:rPr lang="vi-VN" sz="24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TRONG NƯỚC</a:t>
            </a:r>
            <a:br>
              <a:rPr lang="vi-VN" sz="2400" b="1" dirty="0" smtClean="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vi-VN" sz="24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 CÓ 5 NHÓM ĐẶC TÍNH</a:t>
            </a:r>
            <a:endParaRPr sz="24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37"/>
          <p:cNvSpPr txBox="1"/>
          <p:nvPr/>
        </p:nvSpPr>
        <p:spPr>
          <a:xfrm>
            <a:off x="11049000" y="1943100"/>
            <a:ext cx="7162800" cy="43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00"/>
              </a:spcBef>
            </a:pPr>
            <a:r>
              <a:rPr lang="vi-VN" sz="20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ĐẶC BIỆT Ô NHIỄM NGUỒN NƯỚC</a:t>
            </a:r>
            <a:endParaRPr sz="20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37"/>
          <p:cNvSpPr txBox="1"/>
          <p:nvPr/>
        </p:nvSpPr>
        <p:spPr>
          <a:xfrm>
            <a:off x="762000" y="3771900"/>
            <a:ext cx="10668000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00"/>
              </a:spcBef>
            </a:pPr>
            <a:r>
              <a:rPr lang="vi-VN" sz="36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Kim loại nặng: Chì </a:t>
            </a:r>
            <a:r>
              <a:rPr lang="en-US" sz="3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 </a:t>
            </a:r>
            <a:r>
              <a:rPr lang="vi-VN" sz="36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Asen </a:t>
            </a:r>
            <a:r>
              <a:rPr lang="en-US" sz="3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 </a:t>
            </a:r>
            <a:r>
              <a:rPr lang="vi-VN" sz="36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Thạch tím </a:t>
            </a:r>
            <a:r>
              <a:rPr lang="en-US" sz="3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</a:t>
            </a:r>
            <a:r>
              <a:rPr lang="vi-VN" sz="36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 Thuỷ ngân</a:t>
            </a:r>
            <a:endParaRPr sz="36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37"/>
          <p:cNvSpPr txBox="1"/>
          <p:nvPr/>
        </p:nvSpPr>
        <p:spPr>
          <a:xfrm>
            <a:off x="-609600" y="4600426"/>
            <a:ext cx="7162800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00"/>
              </a:spcBef>
            </a:pPr>
            <a:r>
              <a:rPr lang="vi-VN" sz="32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Các vi trùng </a:t>
            </a:r>
            <a:r>
              <a:rPr lang="en-US" sz="32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</a:t>
            </a:r>
            <a:r>
              <a:rPr lang="vi-VN" sz="32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 Vi khuẩn</a:t>
            </a:r>
            <a:endParaRPr sz="32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37"/>
          <p:cNvSpPr txBox="1"/>
          <p:nvPr/>
        </p:nvSpPr>
        <p:spPr>
          <a:xfrm>
            <a:off x="5486400" y="4567163"/>
            <a:ext cx="7162800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00"/>
              </a:spcBef>
            </a:pPr>
            <a:r>
              <a:rPr lang="vi-VN" sz="32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Phụ gia hoá chất như Clo</a:t>
            </a:r>
            <a:endParaRPr sz="32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37"/>
          <p:cNvSpPr txBox="1"/>
          <p:nvPr/>
        </p:nvSpPr>
        <p:spPr>
          <a:xfrm>
            <a:off x="-609600" y="5329163"/>
            <a:ext cx="7162800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00"/>
              </a:spcBef>
            </a:pPr>
            <a:r>
              <a:rPr lang="vi-VN" sz="32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Vi lượng và khoáng chất</a:t>
            </a:r>
            <a:endParaRPr sz="32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37"/>
          <p:cNvSpPr txBox="1"/>
          <p:nvPr/>
        </p:nvSpPr>
        <p:spPr>
          <a:xfrm>
            <a:off x="5486400" y="5286226"/>
            <a:ext cx="7162800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00"/>
              </a:spcBef>
            </a:pPr>
            <a:r>
              <a:rPr lang="vi-VN" sz="32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Trong nước có các độ pH</a:t>
            </a:r>
            <a:endParaRPr sz="32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362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0448" y="4000500"/>
            <a:ext cx="22589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200" b="1" smtClean="0">
                <a:solidFill>
                  <a:srgbClr val="0070C0"/>
                </a:solidFill>
                <a:latin typeface="Times New Roman"/>
                <a:cs typeface="Times New Roman"/>
              </a:rPr>
              <a:t>Lọc đa tầng</a:t>
            </a:r>
            <a:endParaRPr lang="vi-VN" sz="3200" dirty="0"/>
          </a:p>
        </p:txBody>
      </p:sp>
      <p:sp>
        <p:nvSpPr>
          <p:cNvPr id="7" name="Rectangle 6"/>
          <p:cNvSpPr/>
          <p:nvPr/>
        </p:nvSpPr>
        <p:spPr>
          <a:xfrm>
            <a:off x="76200" y="4649569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 smtClean="0">
                <a:solidFill>
                  <a:srgbClr val="C00000"/>
                </a:solidFill>
              </a:rPr>
              <a:t>Hiện đại loại bỏ các bẩn, tạp chất và vi nhựa trong nước</a:t>
            </a:r>
            <a:endParaRPr lang="vi-VN" sz="2000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200" y="5306080"/>
            <a:ext cx="35381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Loại bỏ </a:t>
            </a:r>
            <a:r>
              <a:rPr lang="vi-VN" sz="2800" b="1" smtClean="0">
                <a:solidFill>
                  <a:srgbClr val="0070C0"/>
                </a:solidFill>
                <a:latin typeface="Times New Roman"/>
                <a:cs typeface="Times New Roman"/>
              </a:rPr>
              <a:t>kim loại </a:t>
            </a:r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nặng</a:t>
            </a:r>
            <a:endParaRPr lang="vi-VN" sz="2800" dirty="0"/>
          </a:p>
        </p:txBody>
      </p:sp>
      <p:sp>
        <p:nvSpPr>
          <p:cNvPr id="9" name="Rectangle 8"/>
          <p:cNvSpPr/>
          <p:nvPr/>
        </p:nvSpPr>
        <p:spPr>
          <a:xfrm>
            <a:off x="4343400" y="5807214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 smtClean="0">
                <a:solidFill>
                  <a:srgbClr val="C00000"/>
                </a:solidFill>
              </a:rPr>
              <a:t>Chì </a:t>
            </a:r>
            <a:r>
              <a:rPr lang="en-US" sz="2000" dirty="0" smtClean="0">
                <a:solidFill>
                  <a:srgbClr val="C0000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</a:t>
            </a:r>
            <a:r>
              <a:rPr lang="en-US" sz="2000" dirty="0" err="1" smtClean="0">
                <a:solidFill>
                  <a:srgbClr val="C0000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Asen</a:t>
            </a:r>
            <a:r>
              <a:rPr lang="en-US" sz="2000" dirty="0" smtClean="0">
                <a:solidFill>
                  <a:srgbClr val="C0000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– </a:t>
            </a:r>
            <a:r>
              <a:rPr lang="en-US" sz="2000" dirty="0" err="1" smtClean="0">
                <a:solidFill>
                  <a:srgbClr val="C0000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Thạch</a:t>
            </a:r>
            <a:r>
              <a:rPr lang="en-US" sz="2000" dirty="0" smtClean="0">
                <a:solidFill>
                  <a:srgbClr val="C0000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tím</a:t>
            </a:r>
            <a:r>
              <a:rPr lang="vi-VN" sz="2000" dirty="0">
                <a:solidFill>
                  <a:srgbClr val="C00000"/>
                </a:solidFill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</a:t>
            </a:r>
            <a:r>
              <a:rPr lang="vi-VN" sz="2000" dirty="0" smtClean="0">
                <a:solidFill>
                  <a:srgbClr val="C00000"/>
                </a:solidFill>
              </a:rPr>
              <a:t>Thuỷ </a:t>
            </a:r>
            <a:r>
              <a:rPr lang="vi-VN" sz="2000" dirty="0">
                <a:solidFill>
                  <a:srgbClr val="C00000"/>
                </a:solidFill>
              </a:rPr>
              <a:t>n</a:t>
            </a:r>
            <a:r>
              <a:rPr lang="vi-VN" sz="2000" dirty="0" smtClean="0">
                <a:solidFill>
                  <a:srgbClr val="C00000"/>
                </a:solidFill>
              </a:rPr>
              <a:t>gân gây hại cho sức khoẻ</a:t>
            </a:r>
            <a:endParaRPr lang="vi-VN" sz="2000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536568" y="5458480"/>
            <a:ext cx="2408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 smtClean="0">
                <a:solidFill>
                  <a:srgbClr val="0070C0"/>
                </a:solidFill>
                <a:latin typeface="Times New Roman"/>
                <a:cs typeface="Times New Roman"/>
              </a:rPr>
              <a:t>Tạo Hydrogen</a:t>
            </a:r>
            <a:endParaRPr lang="vi-VN" sz="2800" dirty="0"/>
          </a:p>
        </p:txBody>
      </p:sp>
      <p:sp>
        <p:nvSpPr>
          <p:cNvPr id="11" name="Rectangle 10"/>
          <p:cNvSpPr/>
          <p:nvPr/>
        </p:nvSpPr>
        <p:spPr>
          <a:xfrm>
            <a:off x="11536568" y="5959614"/>
            <a:ext cx="28652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 smtClean="0">
                <a:solidFill>
                  <a:srgbClr val="C00000"/>
                </a:solidFill>
              </a:rPr>
              <a:t>Chống oxy hoá, hỗ </a:t>
            </a:r>
            <a:br>
              <a:rPr lang="vi-VN" sz="2000" dirty="0" smtClean="0">
                <a:solidFill>
                  <a:srgbClr val="C00000"/>
                </a:solidFill>
              </a:rPr>
            </a:br>
            <a:r>
              <a:rPr lang="vi-VN" sz="2000" dirty="0" smtClean="0">
                <a:solidFill>
                  <a:srgbClr val="C00000"/>
                </a:solidFill>
              </a:rPr>
              <a:t>trợ sức khoẻ</a:t>
            </a:r>
            <a:endParaRPr lang="vi-VN" sz="2000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401800" y="4086880"/>
            <a:ext cx="38667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Lọc </a:t>
            </a:r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hết tạp </a:t>
            </a:r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chất </a:t>
            </a:r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độc</a:t>
            </a:r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hại</a:t>
            </a:r>
            <a:endParaRPr lang="vi-VN" sz="2800" dirty="0"/>
          </a:p>
        </p:txBody>
      </p:sp>
      <p:sp>
        <p:nvSpPr>
          <p:cNvPr id="13" name="Rectangle 12"/>
          <p:cNvSpPr/>
          <p:nvPr/>
        </p:nvSpPr>
        <p:spPr>
          <a:xfrm>
            <a:off x="14859000" y="4664214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 smtClean="0">
                <a:solidFill>
                  <a:srgbClr val="C00000"/>
                </a:solidFill>
              </a:rPr>
              <a:t>Giảm các chất gây hại từ nguồn nước</a:t>
            </a:r>
            <a:endParaRPr lang="vi-VN" sz="2000" dirty="0">
              <a:solidFill>
                <a:srgbClr val="C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401800" y="7363480"/>
            <a:ext cx="3105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Cân bằng pH nước</a:t>
            </a:r>
            <a:endParaRPr lang="vi-VN" sz="2800" dirty="0"/>
          </a:p>
        </p:txBody>
      </p:sp>
      <p:sp>
        <p:nvSpPr>
          <p:cNvPr id="15" name="Rectangle 14"/>
          <p:cNvSpPr/>
          <p:nvPr/>
        </p:nvSpPr>
        <p:spPr>
          <a:xfrm>
            <a:off x="14401800" y="7864614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 smtClean="0">
                <a:solidFill>
                  <a:srgbClr val="C00000"/>
                </a:solidFill>
              </a:rPr>
              <a:t>Tạo ion Kiềm sạch tốt cho sức khoẻ</a:t>
            </a:r>
            <a:endParaRPr lang="vi-VN" sz="2000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2000" y="7287280"/>
            <a:ext cx="3395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Khử Clo và vi khuẩn</a:t>
            </a:r>
            <a:endParaRPr lang="vi-VN" sz="2800" dirty="0"/>
          </a:p>
        </p:txBody>
      </p:sp>
      <p:sp>
        <p:nvSpPr>
          <p:cNvPr id="17" name="Rectangle 16"/>
          <p:cNvSpPr/>
          <p:nvPr/>
        </p:nvSpPr>
        <p:spPr>
          <a:xfrm>
            <a:off x="762000" y="7788414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 smtClean="0">
                <a:solidFill>
                  <a:srgbClr val="C00000"/>
                </a:solidFill>
              </a:rPr>
              <a:t>Loại bỏ mùi và hoá chất trong nước</a:t>
            </a:r>
            <a:endParaRPr lang="vi-VN" sz="2000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77258" y="8953500"/>
            <a:ext cx="136771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i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Biến nước thông thường thành nguồn nước tốt cho sức khoẻ mỗi ngày</a:t>
            </a:r>
            <a:endParaRPr lang="vi-VN" sz="3600" i="1" dirty="0"/>
          </a:p>
        </p:txBody>
      </p:sp>
      <p:sp>
        <p:nvSpPr>
          <p:cNvPr id="19" name="Rectangle 18"/>
          <p:cNvSpPr/>
          <p:nvPr/>
        </p:nvSpPr>
        <p:spPr>
          <a:xfrm>
            <a:off x="3962400" y="2225814"/>
            <a:ext cx="107484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40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GIẢI PHÁP CHO NGUỒN NƯỚC SỨC KHOẺ</a:t>
            </a:r>
            <a:endParaRPr lang="vi-VN" sz="4000" dirty="0"/>
          </a:p>
        </p:txBody>
      </p:sp>
      <p:sp>
        <p:nvSpPr>
          <p:cNvPr id="20" name="Rectangle 19"/>
          <p:cNvSpPr/>
          <p:nvPr/>
        </p:nvSpPr>
        <p:spPr>
          <a:xfrm>
            <a:off x="4572000" y="2781300"/>
            <a:ext cx="8994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i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Công nghệ lọc và tạo nước Hydrogen hiện đại</a:t>
            </a:r>
            <a:endParaRPr lang="vi-VN" sz="3600" i="1" dirty="0"/>
          </a:p>
        </p:txBody>
      </p:sp>
    </p:spTree>
    <p:extLst>
      <p:ext uri="{BB962C8B-B14F-4D97-AF65-F5344CB8AC3E}">
        <p14:creationId xmlns:p14="http://schemas.microsoft.com/office/powerpoint/2010/main" val="102883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object 31"/>
          <p:cNvSpPr txBox="1"/>
          <p:nvPr/>
        </p:nvSpPr>
        <p:spPr>
          <a:xfrm>
            <a:off x="12192000" y="1219146"/>
            <a:ext cx="7315200" cy="419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l">
              <a:lnSpc>
                <a:spcPct val="150000"/>
              </a:lnSpc>
              <a:spcBef>
                <a:spcPts val="100"/>
              </a:spcBef>
            </a:pPr>
            <a:r>
              <a:rPr lang="vi-VN" sz="20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NHÀ MÁY SẢN XUẤT NƯỚC ION KIỀM SẠCH</a:t>
            </a:r>
            <a:endParaRPr sz="20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980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1734800" y="876300"/>
            <a:ext cx="56605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 TIỀM NĂNG LÀ VÔ TẬN</a:t>
            </a:r>
            <a:endParaRPr lang="vi-VN" sz="3600" b="1" dirty="0"/>
          </a:p>
        </p:txBody>
      </p:sp>
      <p:sp>
        <p:nvSpPr>
          <p:cNvPr id="21" name="Rectangle 20"/>
          <p:cNvSpPr/>
          <p:nvPr/>
        </p:nvSpPr>
        <p:spPr>
          <a:xfrm>
            <a:off x="455227" y="2324100"/>
            <a:ext cx="5259773" cy="13070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MÔ HÌNH PHÁT TRIỂN</a:t>
            </a:r>
            <a:b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vi-VN" sz="2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 HỆ SINH THÁI WATER KING</a:t>
            </a:r>
            <a:endParaRPr lang="vi-VN" sz="2800" b="1" dirty="0"/>
          </a:p>
        </p:txBody>
      </p:sp>
    </p:spTree>
    <p:extLst>
      <p:ext uri="{BB962C8B-B14F-4D97-AF65-F5344CB8AC3E}">
        <p14:creationId xmlns:p14="http://schemas.microsoft.com/office/powerpoint/2010/main" val="202929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1"/>
          <p:cNvSpPr txBox="1"/>
          <p:nvPr/>
        </p:nvSpPr>
        <p:spPr>
          <a:xfrm>
            <a:off x="11506200" y="5159489"/>
            <a:ext cx="7315200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l">
              <a:lnSpc>
                <a:spcPct val="150000"/>
              </a:lnSpc>
              <a:spcBef>
                <a:spcPts val="100"/>
              </a:spcBef>
            </a:pPr>
            <a:r>
              <a:rPr lang="vi-VN" sz="4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1. MODEL: OKQD </a:t>
            </a:r>
            <a:br>
              <a:rPr lang="vi-VN" sz="4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vi-VN" sz="4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2. MODEL: OK01</a:t>
            </a:r>
            <a:br>
              <a:rPr lang="vi-VN" sz="4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vi-VN" sz="4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3. OK01 PRO MAX</a:t>
            </a:r>
            <a:endParaRPr sz="4800" b="1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66750" y="3550503"/>
            <a:ext cx="89306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48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MÁY TẠO NƯỚC HYDROGEN</a:t>
            </a:r>
            <a:endParaRPr lang="vi-VN" sz="4800" dirty="0"/>
          </a:p>
        </p:txBody>
      </p:sp>
    </p:spTree>
    <p:extLst>
      <p:ext uri="{BB962C8B-B14F-4D97-AF65-F5344CB8AC3E}">
        <p14:creationId xmlns:p14="http://schemas.microsoft.com/office/powerpoint/2010/main" val="201681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1333500"/>
            <a:ext cx="79248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/>
            </a:r>
            <a:b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/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1. NƯỚC SẠCH TINH KHIẾT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2. NƯỚC KHOÁNG ION KIỀM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3. NƯỚC NÓNG ĐỂ PHA TRÀ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4. NƯỚC DÀNH CHO TRẺ EM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5. NƯỚC HYDROGEN ION KIỀM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6. NƯỚC RỬA THỰC PHẨM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7. OZONE XỬ LÝ KHÔNG KHÍ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8. OZONE </a:t>
            </a:r>
            <a:r>
              <a:rPr lang="vi-VN" sz="28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SỤC</a:t>
            </a: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THỰC PHẨM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9. NƯỚC SPA </a:t>
            </a:r>
            <a:r>
              <a:rPr lang="vi-VN" sz="28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CHĂM SÓC DA</a:t>
            </a:r>
            <a:endParaRPr lang="en-US" sz="2800" b="1" dirty="0" smtClean="0">
              <a:solidFill>
                <a:srgbClr val="0070C0"/>
              </a:solidFill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914400" y="8387238"/>
            <a:ext cx="8519314" cy="1480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32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WASY PRO </a:t>
            </a:r>
            <a:r>
              <a:rPr lang="vi-VN" sz="3200" dirty="0" smtClean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sz="3200" dirty="0" smtClean="0">
              <a:solidFill>
                <a:srgbClr val="0070C0"/>
              </a:solidFill>
              <a:effectLst/>
              <a:latin typeface="Times New Roman" charset="0"/>
              <a:ea typeface="Calibri" charset="0"/>
              <a:cs typeface="Times New Roman" charset="0"/>
            </a:endParaRPr>
          </a:p>
          <a:p>
            <a:pPr algn="ctr">
              <a:lnSpc>
                <a:spcPct val="150000"/>
              </a:lnSpc>
            </a:pPr>
            <a:r>
              <a:rPr lang="en-US" sz="32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vi-VN" sz="32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9 CHỨC NĂNG TRONG 1</a:t>
            </a:r>
            <a:endParaRPr lang="vi-VN" sz="3200" b="1" dirty="0"/>
          </a:p>
        </p:txBody>
      </p:sp>
    </p:spTree>
    <p:extLst>
      <p:ext uri="{BB962C8B-B14F-4D97-AF65-F5344CB8AC3E}">
        <p14:creationId xmlns:p14="http://schemas.microsoft.com/office/powerpoint/2010/main" val="23044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1086928" y="19495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vi-VN" dirty="0"/>
          </a:p>
        </p:txBody>
      </p:sp>
      <p:sp>
        <p:nvSpPr>
          <p:cNvPr id="12" name="Rectangle 11"/>
          <p:cNvSpPr/>
          <p:nvPr/>
        </p:nvSpPr>
        <p:spPr>
          <a:xfrm>
            <a:off x="685800" y="1333500"/>
            <a:ext cx="40190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XÃ HỘI HOÁ </a:t>
            </a:r>
            <a:r>
              <a:rPr lang="vi-VN" sz="20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MÁY </a:t>
            </a:r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HYDROGEN</a:t>
            </a:r>
            <a:endParaRPr lang="vi-VN" sz="2000" dirty="0"/>
          </a:p>
        </p:txBody>
      </p:sp>
      <p:sp>
        <p:nvSpPr>
          <p:cNvPr id="11" name="Rectangle 10"/>
          <p:cNvSpPr/>
          <p:nvPr/>
        </p:nvSpPr>
        <p:spPr>
          <a:xfrm>
            <a:off x="381000" y="3247192"/>
            <a:ext cx="838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800" b="1" dirty="0" smtClean="0">
                <a:solidFill>
                  <a:srgbClr val="C0000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GIÁ MÁY HYDROGEN CHỈ: 15TR</a:t>
            </a:r>
            <a:endParaRPr lang="vi-VN" sz="38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58600" y="2344102"/>
            <a:ext cx="7620000" cy="741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charset="2"/>
              <a:buChar char="v"/>
            </a:pPr>
            <a:r>
              <a:rPr lang="vi-VN" sz="32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NƯỚC HYDROGEN</a:t>
            </a:r>
            <a:endParaRPr lang="vi-VN" sz="3200" dirty="0"/>
          </a:p>
        </p:txBody>
      </p:sp>
      <p:sp>
        <p:nvSpPr>
          <p:cNvPr id="9" name="Rectangle 8"/>
          <p:cNvSpPr/>
          <p:nvPr/>
        </p:nvSpPr>
        <p:spPr>
          <a:xfrm>
            <a:off x="11811000" y="3855303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charset="2"/>
              <a:buChar char="v"/>
            </a:pPr>
            <a:r>
              <a:rPr lang="vi-VN" sz="32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NƯỚC CHO TRẺ EM</a:t>
            </a:r>
            <a:endParaRPr lang="vi-VN" sz="3200" dirty="0"/>
          </a:p>
        </p:txBody>
      </p:sp>
      <p:sp>
        <p:nvSpPr>
          <p:cNvPr id="13" name="Rectangle 12"/>
          <p:cNvSpPr/>
          <p:nvPr/>
        </p:nvSpPr>
        <p:spPr>
          <a:xfrm>
            <a:off x="11734800" y="3086100"/>
            <a:ext cx="7620000" cy="741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charset="2"/>
              <a:buChar char="v"/>
            </a:pPr>
            <a:r>
              <a:rPr lang="vi-VN" sz="32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NƯỚC TINH KHIẾT</a:t>
            </a:r>
            <a:endParaRPr lang="vi-VN" sz="3200" dirty="0"/>
          </a:p>
        </p:txBody>
      </p:sp>
      <p:sp>
        <p:nvSpPr>
          <p:cNvPr id="4" name="Rectangle 3"/>
          <p:cNvSpPr/>
          <p:nvPr/>
        </p:nvSpPr>
        <p:spPr>
          <a:xfrm>
            <a:off x="381000" y="4076700"/>
            <a:ext cx="8305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600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Chất lượng nước đầu ra (Hydrogen </a:t>
            </a:r>
            <a:r>
              <a:rPr lang="vi-VN" sz="2600" i="1" spc="-1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ORP </a:t>
            </a:r>
            <a:r>
              <a:rPr lang="vi-VN" sz="2600" i="1" spc="-1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pH – TDS) </a:t>
            </a:r>
            <a:b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</a:b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đạt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mức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tương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đương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các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dòng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máy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cao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cấp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phân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khúc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b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</a:b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từ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45tr </a:t>
            </a:r>
            <a:r>
              <a:rPr lang="vi-VN" sz="2600" i="1" spc="-1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 150tr</a:t>
            </a:r>
            <a:r>
              <a:rPr lang="vi-VN" sz="26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vi-VN" sz="2600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3733800" y="8678404"/>
            <a:ext cx="17297400" cy="1951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buFont typeface="Wingdings" charset="2"/>
              <a:buChar char="ü"/>
            </a:pP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MÁY TẠO NƯỚC HYDROGEN 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MODEL: OKQD 3 CHỨC NĂNG</a:t>
            </a:r>
            <a:br>
              <a:rPr lang="vi-VN" sz="28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endParaRPr lang="vi-VN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68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" y="0"/>
            <a:ext cx="18288000" cy="10287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0" y="3020080"/>
            <a:ext cx="11125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b="1" dirty="0" smtClean="0">
                <a:solidFill>
                  <a:srgbClr val="0070C0"/>
                </a:solidFill>
              </a:rPr>
              <a:t>Trải nghiệm sảm phẩm trở thành =&gt; Đối tác kinh doanh</a:t>
            </a:r>
            <a:endParaRPr lang="vi-VN" sz="2800" b="1" dirty="0">
              <a:solidFill>
                <a:srgbClr val="0070C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548695"/>
              </p:ext>
            </p:extLst>
          </p:nvPr>
        </p:nvGraphicFramePr>
        <p:xfrm>
          <a:off x="762000" y="3831475"/>
          <a:ext cx="16840199" cy="53949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74902"/>
                <a:gridCol w="3513938"/>
                <a:gridCol w="2016760"/>
                <a:gridCol w="2286000"/>
                <a:gridCol w="2133600"/>
                <a:gridCol w="2971800"/>
                <a:gridCol w="2743199"/>
              </a:tblGrid>
              <a:tr h="778625">
                <a:tc>
                  <a:txBody>
                    <a:bodyPr/>
                    <a:lstStyle/>
                    <a:p>
                      <a:pPr marL="168910" marR="96520" indent="-59690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spcAft>
                          <a:spcPts val="0"/>
                        </a:spcAft>
                      </a:pPr>
                      <a:endParaRPr lang="vi-VN" sz="1800" spc="-10" dirty="0" smtClean="0">
                        <a:effectLst/>
                      </a:endParaRPr>
                    </a:p>
                    <a:p>
                      <a:pPr marL="168910" marR="96520" indent="-59690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spcAft>
                          <a:spcPts val="0"/>
                        </a:spcAft>
                      </a:pPr>
                      <a:r>
                        <a:rPr lang="vi-VN" sz="1800" spc="-10" dirty="0" smtClean="0">
                          <a:effectLst/>
                        </a:rPr>
                        <a:t>STT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Cấp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bậc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28575"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Hoa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hồng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bán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lẻ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28575" marR="254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Hoa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hồng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trực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charset="0"/>
                          <a:ea typeface="Times New Roman" charset="0"/>
                        </a:rPr>
                        <a:t>tiếp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28575" marR="254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vi-VN" sz="1800" spc="-50" dirty="0" smtClean="0">
                          <a:effectLst/>
                          <a:latin typeface="+mn-lt"/>
                          <a:ea typeface="+mn-ea"/>
                        </a:rPr>
                        <a:t>Hoa hồng gián tiếp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marR="254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28575" marR="2540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Thu nhập/thu nhập trực tiếp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1905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vi-VN" sz="1800" spc="-50" dirty="0" smtClean="0">
                          <a:effectLst/>
                          <a:latin typeface="+mn-lt"/>
                          <a:ea typeface="+mn-ea"/>
                        </a:rPr>
                        <a:t>Đồng chia lợi nhuận</a:t>
                      </a:r>
                      <a:br>
                        <a:rPr lang="vi-VN" sz="1800" spc="-50" dirty="0" smtClean="0">
                          <a:effectLst/>
                          <a:latin typeface="+mn-lt"/>
                          <a:ea typeface="+mn-ea"/>
                        </a:rPr>
                      </a:b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  <a:tr h="778625">
                <a:tc>
                  <a:txBody>
                    <a:bodyPr/>
                    <a:lstStyle/>
                    <a:p>
                      <a:pPr marL="67945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67945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1                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KHÁCH HÀNG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  <a:tr h="778625">
                <a:tc>
                  <a:txBody>
                    <a:bodyPr/>
                    <a:lstStyle/>
                    <a:p>
                      <a:pPr marL="67945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2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ĐỐI TÁC KINH DOANH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20%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10%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5%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20%</a:t>
                      </a:r>
                      <a:r>
                        <a:rPr lang="en-US" sz="1800" baseline="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  </a:t>
                      </a:r>
                    </a:p>
                  </a:txBody>
                  <a:tcPr marL="0" marR="0" marT="0" marB="0"/>
                </a:tc>
              </a:tr>
              <a:tr h="778625">
                <a:tc>
                  <a:txBody>
                    <a:bodyPr/>
                    <a:lstStyle/>
                    <a:p>
                      <a:pPr marL="67945" marR="11493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3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TP </a:t>
                      </a:r>
                      <a:r>
                        <a:rPr lang="vi-VN" sz="1800" dirty="0" smtClean="0">
                          <a:solidFill>
                            <a:srgbClr val="0070C0"/>
                          </a:solidFill>
                          <a:effectLst>
                            <a:innerShdw blurRad="63500" dist="50800" dir="10800000">
                              <a:prstClr val="black">
                                <a:alpha val="50000"/>
                              </a:prstClr>
                            </a:innerShdw>
                            <a:reflection blurRad="6350" stA="17000" endPos="60000" dist="29997" dir="5400000" sy="-100000" algn="bl" rotWithShape="0"/>
                          </a:effectLst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70C0"/>
                          </a:solidFill>
                          <a:effectLst/>
                          <a:latin typeface="Times New Roman" charset="0"/>
                          <a:ea typeface="Calibri" charset="0"/>
                          <a:cs typeface="Times New Roman" charset="0"/>
                        </a:rPr>
                        <a:t>– 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KINH DOANH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20%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10%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5%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25%</a:t>
                      </a:r>
                      <a:r>
                        <a:rPr lang="en-US" sz="1800" baseline="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  <a:tr h="778625">
                <a:tc>
                  <a:txBody>
                    <a:bodyPr/>
                    <a:lstStyle/>
                    <a:p>
                      <a:pPr marL="67945" marR="11493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67945" marR="11493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4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23495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GIÁM ĐỐC KINH DOANH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20%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10%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5%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30%</a:t>
                      </a:r>
                      <a:r>
                        <a:rPr lang="en-US" sz="1800" baseline="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br>
                        <a:rPr lang="en-US" sz="1800" baseline="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10%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  <a:tr h="778625">
                <a:tc>
                  <a:txBody>
                    <a:bodyPr/>
                    <a:lstStyle/>
                    <a:p>
                      <a:pPr marL="67945" marR="11493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5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ĐẠI SỨ KIM CƯƠNG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20%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10%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5%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20%</a:t>
                      </a:r>
                      <a:r>
                        <a:rPr lang="en-US" sz="1800" baseline="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10%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2115800" y="1257300"/>
            <a:ext cx="1112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 dirty="0" smtClean="0">
                <a:solidFill>
                  <a:srgbClr val="0070C0"/>
                </a:solidFill>
              </a:rPr>
              <a:t>Affiliate</a:t>
            </a:r>
            <a:r>
              <a:rPr lang="en-US" sz="3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</a:t>
            </a:r>
            <a:r>
              <a:rPr lang="vi-VN" sz="3600" b="1" dirty="0" smtClean="0">
                <a:solidFill>
                  <a:srgbClr val="0070C0"/>
                </a:solidFill>
              </a:rPr>
              <a:t>Maketing</a:t>
            </a:r>
            <a:endParaRPr lang="vi-VN" sz="3600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86000" y="9359325"/>
            <a:ext cx="18059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200" dirty="0" smtClean="0">
                <a:solidFill>
                  <a:srgbClr val="0070C0"/>
                </a:solidFill>
              </a:rPr>
              <a:t>Tuyển 5 trực tiếp lên TP</a:t>
            </a:r>
            <a:r>
              <a:rPr lang="vi-VN" sz="3200" dirty="0" smtClean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z="32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</a:t>
            </a:r>
            <a:r>
              <a:rPr lang="vi-VN" sz="3200" dirty="0" smtClean="0">
                <a:solidFill>
                  <a:srgbClr val="0070C0"/>
                </a:solidFill>
              </a:rPr>
              <a:t>KD =&gt; Giúp 5 trực tiếp lên TP</a:t>
            </a:r>
            <a:r>
              <a:rPr lang="vi-VN" sz="3200" dirty="0" smtClean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z="32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KD =&gt; </a:t>
            </a:r>
            <a:r>
              <a:rPr lang="en-US" sz="32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Lên</a:t>
            </a:r>
            <a:r>
              <a:rPr lang="en-US" sz="32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GĐ</a:t>
            </a:r>
            <a:r>
              <a:rPr lang="vi-VN" sz="3200" dirty="0" smtClean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z="32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KD</a:t>
            </a:r>
            <a:endParaRPr lang="vi-VN" sz="3200" dirty="0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268200" y="3064014"/>
            <a:ext cx="784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000" b="1" dirty="0" smtClean="0">
                <a:solidFill>
                  <a:srgbClr val="C00000"/>
                </a:solidFill>
              </a:rPr>
              <a:t>ĐỒNG CLN 10% </a:t>
            </a:r>
            <a:br>
              <a:rPr lang="vi-VN" sz="2000" b="1" dirty="0" smtClean="0">
                <a:solidFill>
                  <a:srgbClr val="C00000"/>
                </a:solidFill>
              </a:rPr>
            </a:br>
            <a:r>
              <a:rPr lang="vi-VN" sz="2000" b="1" dirty="0" smtClean="0">
                <a:solidFill>
                  <a:srgbClr val="C00000"/>
                </a:solidFill>
              </a:rPr>
              <a:t>THÁNG BÁN 1 MÁY</a:t>
            </a:r>
            <a:endParaRPr lang="vi-VN" sz="2000" b="1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" y="2019300"/>
            <a:ext cx="7848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b="1" dirty="0" smtClean="0">
                <a:solidFill>
                  <a:srgbClr val="C00000"/>
                </a:solidFill>
              </a:rPr>
              <a:t>ĐVT: 10.000 ĐỒNG = 1 ĐIỂM</a:t>
            </a:r>
            <a:endParaRPr lang="vi-V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6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0" y="3086100"/>
            <a:ext cx="1143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4000" b="1" dirty="0" smtClean="0">
                <a:solidFill>
                  <a:srgbClr val="0070C0"/>
                </a:solidFill>
                <a:latin typeface="Times New Roman"/>
                <a:cs typeface="Times New Roman"/>
              </a:rPr>
              <a:t>MÁY TẠO NƯỚC HYDROGEN WASY PRO</a:t>
            </a:r>
            <a:endParaRPr lang="vi-VN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125200" y="4305300"/>
          <a:ext cx="6629401" cy="434478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8200"/>
                <a:gridCol w="2667000"/>
                <a:gridCol w="1905000"/>
                <a:gridCol w="1219201"/>
              </a:tblGrid>
              <a:tr h="778625">
                <a:tc>
                  <a:txBody>
                    <a:bodyPr/>
                    <a:lstStyle/>
                    <a:p>
                      <a:pPr marL="168910" marR="96520" indent="-59690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spcAft>
                          <a:spcPts val="0"/>
                        </a:spcAft>
                      </a:pPr>
                      <a:endParaRPr lang="vi-VN" sz="1800" spc="-10" dirty="0" smtClean="0">
                        <a:effectLst/>
                      </a:endParaRPr>
                    </a:p>
                    <a:p>
                      <a:pPr marL="168910" marR="96520" indent="-59690" algn="ctr">
                        <a:lnSpc>
                          <a:spcPct val="100000"/>
                        </a:lnSpc>
                        <a:spcBef>
                          <a:spcPts val="1065"/>
                        </a:spcBef>
                        <a:spcAft>
                          <a:spcPts val="0"/>
                        </a:spcAft>
                      </a:pPr>
                      <a:r>
                        <a:rPr lang="vi-VN" sz="1800" spc="-10" dirty="0" smtClean="0">
                          <a:effectLst/>
                        </a:rPr>
                        <a:t>STT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MODEL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28575"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vi-VN" sz="1800" spc="-50" dirty="0" smtClean="0">
                          <a:effectLst/>
                        </a:rPr>
                        <a:t>VND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 </a:t>
                      </a:r>
                      <a:r>
                        <a:rPr lang="vi-VN" sz="1800" dirty="0" smtClean="0">
                          <a:effectLst/>
                        </a:rPr>
                        <a:t/>
                      </a:r>
                      <a:br>
                        <a:rPr lang="vi-VN" sz="1800" dirty="0" smtClean="0">
                          <a:effectLst/>
                        </a:rPr>
                      </a:br>
                      <a:r>
                        <a:rPr lang="vi-VN" sz="1800" dirty="0" smtClean="0">
                          <a:effectLst/>
                        </a:rPr>
                        <a:t>    </a:t>
                      </a:r>
                      <a:r>
                        <a:rPr lang="vi-VN" sz="1800" baseline="0" dirty="0" smtClean="0">
                          <a:effectLst/>
                        </a:rPr>
                        <a:t> </a:t>
                      </a:r>
                      <a:r>
                        <a:rPr lang="vi-VN" sz="1800" dirty="0" smtClean="0">
                          <a:effectLst/>
                        </a:rPr>
                        <a:t>ĐIỂM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  <a:tr h="778625">
                <a:tc>
                  <a:txBody>
                    <a:bodyPr/>
                    <a:lstStyle/>
                    <a:p>
                      <a:pPr marL="67945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67945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1                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WASY PRO 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HYDEOGEN QD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   </a:t>
                      </a: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15.000.000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1.500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  <a:tr h="778625">
                <a:tc>
                  <a:txBody>
                    <a:bodyPr/>
                    <a:lstStyle/>
                    <a:p>
                      <a:pPr marL="67945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2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WASY PRO 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HYDEOGEN 01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   25.000.000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2.500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  <a:tr h="778625">
                <a:tc>
                  <a:txBody>
                    <a:bodyPr/>
                    <a:lstStyle/>
                    <a:p>
                      <a:pPr marL="67945" marR="11493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3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WASY PRO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HYDEOGEN 01 SPA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27305" marR="234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US" sz="1800" dirty="0" smtClean="0">
                        <a:effectLst/>
                        <a:latin typeface="Times New Roman" charset="0"/>
                        <a:ea typeface="Times New Roman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 </a:t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      45.000.000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/>
                      </a:r>
                      <a:b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</a:br>
                      <a:r>
                        <a:rPr lang="en-US" sz="1800" dirty="0" smtClean="0">
                          <a:effectLst/>
                          <a:latin typeface="Times New Roman" charset="0"/>
                          <a:ea typeface="Times New Roman" charset="0"/>
                        </a:rPr>
                        <a:t> 4.500</a:t>
                      </a:r>
                      <a:endParaRPr lang="en-US" sz="18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85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1086928" y="19495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vi-VN" dirty="0"/>
          </a:p>
        </p:txBody>
      </p:sp>
      <p:sp>
        <p:nvSpPr>
          <p:cNvPr id="10" name="Rectangle 9"/>
          <p:cNvSpPr/>
          <p:nvPr/>
        </p:nvSpPr>
        <p:spPr>
          <a:xfrm>
            <a:off x="228600" y="6083975"/>
            <a:ext cx="457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GIÁ NHẬP 10 MÁY:   </a:t>
            </a:r>
            <a:r>
              <a:rPr lang="vi-VN" sz="20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10.000,000 VNĐ</a:t>
            </a:r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/>
            </a:r>
            <a:b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GIÁ NHẬP 25 MÁY:    </a:t>
            </a:r>
            <a:r>
              <a:rPr lang="vi-VN" sz="20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9,500,000 VNĐ</a:t>
            </a:r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/>
            </a:r>
            <a:b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GIÁ NHẬP 50 MÁY:    </a:t>
            </a:r>
            <a:r>
              <a:rPr lang="vi-VN" sz="20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9.000,000 VNĐ</a:t>
            </a:r>
            <a:endParaRPr lang="vi-VN" sz="2000" dirty="0" smtClean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1333500"/>
            <a:ext cx="40190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XÃ HỘI HOÁ </a:t>
            </a:r>
            <a:r>
              <a:rPr lang="vi-VN" sz="2000" b="1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MÁY </a:t>
            </a:r>
            <a:r>
              <a:rPr lang="vi-VN" sz="20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HYDROGEN</a:t>
            </a:r>
            <a:endParaRPr lang="vi-VN" sz="2000" dirty="0"/>
          </a:p>
        </p:txBody>
      </p:sp>
      <p:sp>
        <p:nvSpPr>
          <p:cNvPr id="14" name="Rectangle 13"/>
          <p:cNvSpPr/>
          <p:nvPr/>
        </p:nvSpPr>
        <p:spPr>
          <a:xfrm>
            <a:off x="11658600" y="2344102"/>
            <a:ext cx="7620000" cy="741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charset="2"/>
              <a:buChar char="v"/>
            </a:pPr>
            <a:r>
              <a:rPr lang="vi-VN" sz="32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NƯỚC HYDROGEN</a:t>
            </a:r>
            <a:endParaRPr lang="vi-VN" sz="3200" dirty="0"/>
          </a:p>
        </p:txBody>
      </p:sp>
      <p:sp>
        <p:nvSpPr>
          <p:cNvPr id="15" name="Rectangle 14"/>
          <p:cNvSpPr/>
          <p:nvPr/>
        </p:nvSpPr>
        <p:spPr>
          <a:xfrm>
            <a:off x="11734800" y="3855303"/>
            <a:ext cx="7620000" cy="721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charset="2"/>
              <a:buChar char="v"/>
            </a:pPr>
            <a:r>
              <a:rPr lang="vi-VN" sz="31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NƯỚC CHO TRẺ EM</a:t>
            </a:r>
            <a:endParaRPr lang="vi-VN" sz="3100" dirty="0"/>
          </a:p>
        </p:txBody>
      </p:sp>
      <p:sp>
        <p:nvSpPr>
          <p:cNvPr id="16" name="Rectangle 15"/>
          <p:cNvSpPr/>
          <p:nvPr/>
        </p:nvSpPr>
        <p:spPr>
          <a:xfrm>
            <a:off x="11734800" y="3086100"/>
            <a:ext cx="7620000" cy="741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charset="2"/>
              <a:buChar char="v"/>
            </a:pPr>
            <a:r>
              <a:rPr lang="vi-VN" sz="32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NƯỚC TINH KHIẾT</a:t>
            </a:r>
            <a:endParaRPr lang="vi-VN" sz="3200" dirty="0"/>
          </a:p>
        </p:txBody>
      </p:sp>
      <p:sp>
        <p:nvSpPr>
          <p:cNvPr id="17" name="Rectangle 16"/>
          <p:cNvSpPr/>
          <p:nvPr/>
        </p:nvSpPr>
        <p:spPr>
          <a:xfrm>
            <a:off x="-3886200" y="9421852"/>
            <a:ext cx="17297400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buFont typeface="Wingdings" charset="2"/>
              <a:buChar char="ü"/>
            </a:pPr>
            <a:r>
              <a:rPr lang="vi-VN" sz="24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MÁY TẠO NƯỚC HYDROGEN </a:t>
            </a:r>
            <a:r>
              <a:rPr lang="en-US" sz="24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</a:t>
            </a:r>
            <a:r>
              <a:rPr lang="vi-VN" sz="24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MODEL: QD 3 CHỨC NĂNG</a:t>
            </a:r>
            <a:br>
              <a:rPr lang="vi-VN" sz="24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</a:br>
            <a:endParaRPr lang="vi-VN" sz="2400" b="1" dirty="0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1000" y="3247192"/>
            <a:ext cx="838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800" b="1" dirty="0" smtClean="0">
                <a:solidFill>
                  <a:srgbClr val="C0000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GIÁ MÁY HYDROGEN CHỈ: 15TR</a:t>
            </a:r>
            <a:endParaRPr lang="vi-VN" sz="3800" dirty="0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1000" y="4076700"/>
            <a:ext cx="8305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600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Chất lượng nước đầu ra (Hydrogen </a:t>
            </a:r>
            <a:r>
              <a:rPr lang="vi-VN" sz="2600" i="1" spc="-1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ORP </a:t>
            </a:r>
            <a:r>
              <a:rPr lang="vi-VN" sz="2600" i="1" spc="-1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pH – TDS) </a:t>
            </a:r>
            <a:b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</a:b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đạt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mức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tương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đương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các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dòng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máy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cao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cấp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phân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khúc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</a:t>
            </a:r>
            <a:b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</a:br>
            <a:r>
              <a:rPr lang="en-US" sz="2600" dirty="0" err="1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từ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 45tr </a:t>
            </a:r>
            <a:r>
              <a:rPr lang="vi-VN" sz="2600" i="1" spc="-1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 smtClean="0">
                <a:solidFill>
                  <a:srgbClr val="0070C0"/>
                </a:solidFill>
                <a:effectLst/>
                <a:latin typeface="Times New Roman" charset="0"/>
                <a:ea typeface="Calibri" charset="0"/>
                <a:cs typeface="Times New Roman" charset="0"/>
              </a:rPr>
              <a:t>–  150tr</a:t>
            </a:r>
            <a:r>
              <a:rPr lang="vi-VN" sz="2600" b="1" dirty="0" smtClean="0">
                <a:solidFill>
                  <a:srgbClr val="0070C0"/>
                </a:solidFill>
                <a:effectLst/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vi-VN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69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5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0" y="38100"/>
            <a:ext cx="5867400" cy="10248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56791" cy="10325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1" y="0"/>
            <a:ext cx="671620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78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8662C86-AA52-930E-DEFC-76D20F6ABA5D}"/>
              </a:ext>
            </a:extLst>
          </p:cNvPr>
          <p:cNvSpPr txBox="1"/>
          <p:nvPr/>
        </p:nvSpPr>
        <p:spPr>
          <a:xfrm>
            <a:off x="2422068" y="3848100"/>
            <a:ext cx="13808532" cy="116955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000" b="1" spc="450" dirty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CHÂN </a:t>
            </a:r>
            <a:r>
              <a:rPr lang="en-US" sz="7000" b="1" spc="450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THÀNH </a:t>
            </a:r>
            <a:r>
              <a:rPr lang="en-US" sz="7000" b="1" spc="450" dirty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CẢM </a:t>
            </a:r>
            <a:r>
              <a:rPr lang="en-US" sz="7000" b="1" spc="450" dirty="0" smtClean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ƠN!</a:t>
            </a:r>
            <a:endParaRPr lang="en-US" sz="7000" b="1" spc="450" dirty="0">
              <a:solidFill>
                <a:srgbClr val="0070C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41319" y="5905500"/>
            <a:ext cx="16365681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4200" dirty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''Hãy đồng hành cùng chúng tôi để kiến tạo nên cuộc sống tốt đẹp hơn</a:t>
            </a:r>
            <a:r>
              <a:rPr lang="vi-VN" sz="4200" dirty="0" smtClean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”.</a:t>
            </a:r>
            <a:br>
              <a:rPr lang="vi-VN" sz="4200" dirty="0" smtClean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</a:br>
            <a:endParaRPr lang="vi-VN" sz="4200" dirty="0" smtClean="0">
              <a:solidFill>
                <a:srgbClr val="0070C0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  <a:reflection blurRad="6350" stA="17000" endPos="60000" dist="29997" dir="5400000" sy="-100000" algn="bl" rotWithShape="0"/>
              </a:effectLst>
              <a:latin typeface="Times New Roman" charset="0"/>
              <a:ea typeface="Times New Roman" charset="0"/>
              <a:cs typeface="Times New Roman" charset="0"/>
            </a:endParaRPr>
          </a:p>
          <a:p>
            <a:endParaRPr lang="vi-VN" sz="4200" dirty="0" smtClean="0">
              <a:solidFill>
                <a:srgbClr val="0070C0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  <a:reflection blurRad="6350" stA="17000" endPos="60000" dist="29997" dir="5400000" sy="-100000" algn="bl" rotWithShape="0"/>
              </a:effectLst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vi-VN" sz="4200" dirty="0" smtClean="0">
                <a:solidFill>
                  <a:srgbClr val="0070C0"/>
                </a:solidFill>
                <a:effectLst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17000" endPos="60000" dist="29997" dir="5400000" sy="-100000" algn="bl" rotWithShape="0"/>
                </a:effectLst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endParaRPr lang="en-US" sz="4200" b="1" dirty="0">
              <a:solidFill>
                <a:srgbClr val="0070C0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  <a:reflection blurRad="6350" stA="17000" endPos="60000" dist="29997" dir="5400000" sy="-100000" algn="bl" rotWithShape="0"/>
              </a:effectLst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13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22247</TotalTime>
  <Words>521</Words>
  <Application>Microsoft Macintosh PowerPoint</Application>
  <PresentationFormat>Custom</PresentationFormat>
  <Paragraphs>153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Apple Color Emoji</vt:lpstr>
      <vt:lpstr>Calibri</vt:lpstr>
      <vt:lpstr>Times New Roman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TY CỔ PHẦN WATER KING</dc:title>
  <cp:lastModifiedBy>Microsoft Office User</cp:lastModifiedBy>
  <cp:revision>395</cp:revision>
  <cp:lastPrinted>2026-04-05T15:33:33Z</cp:lastPrinted>
  <dcterms:created xsi:type="dcterms:W3CDTF">2025-10-28T10:42:45Z</dcterms:created>
  <dcterms:modified xsi:type="dcterms:W3CDTF">2026-04-07T06:57:26Z</dcterms:modified>
</cp:coreProperties>
</file>